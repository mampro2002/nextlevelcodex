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Stinger Fit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8AB588-6505-949E-2C9D-01D66A74A9D1}" v="7" dt="2026-06-08T08:01:15.0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2452105" y="-5752419"/>
            <a:ext cx="6942365" cy="8264720"/>
          </a:xfrm>
          <a:custGeom>
            <a:avLst/>
            <a:gdLst/>
            <a:ahLst/>
            <a:cxnLst/>
            <a:rect l="l" t="t" r="r" b="b"/>
            <a:pathLst>
              <a:path w="6942365" h="8264720">
                <a:moveTo>
                  <a:pt x="6942365" y="8264720"/>
                </a:moveTo>
                <a:lnTo>
                  <a:pt x="0" y="8264720"/>
                </a:lnTo>
                <a:lnTo>
                  <a:pt x="0" y="0"/>
                </a:lnTo>
                <a:lnTo>
                  <a:pt x="6942365" y="0"/>
                </a:lnTo>
                <a:lnTo>
                  <a:pt x="6942365" y="826472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114938" y="-6754570"/>
            <a:ext cx="7783270" cy="7783270"/>
          </a:xfrm>
          <a:custGeom>
            <a:avLst/>
            <a:gdLst/>
            <a:ahLst/>
            <a:cxnLst/>
            <a:rect l="l" t="t" r="r" b="b"/>
            <a:pathLst>
              <a:path w="7783270" h="7783270">
                <a:moveTo>
                  <a:pt x="0" y="0"/>
                </a:moveTo>
                <a:lnTo>
                  <a:pt x="7783270" y="0"/>
                </a:lnTo>
                <a:lnTo>
                  <a:pt x="7783270" y="7783270"/>
                </a:lnTo>
                <a:lnTo>
                  <a:pt x="0" y="77832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 flipH="1" flipV="1">
            <a:off x="-1434465" y="7936076"/>
            <a:ext cx="6942365" cy="8264720"/>
          </a:xfrm>
          <a:custGeom>
            <a:avLst/>
            <a:gdLst/>
            <a:ahLst/>
            <a:cxnLst/>
            <a:rect l="l" t="t" r="r" b="b"/>
            <a:pathLst>
              <a:path w="6942365" h="8264720">
                <a:moveTo>
                  <a:pt x="6942364" y="8264720"/>
                </a:moveTo>
                <a:lnTo>
                  <a:pt x="0" y="8264720"/>
                </a:lnTo>
                <a:lnTo>
                  <a:pt x="0" y="0"/>
                </a:lnTo>
                <a:lnTo>
                  <a:pt x="6942364" y="0"/>
                </a:lnTo>
                <a:lnTo>
                  <a:pt x="6942364" y="826472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-938203" y="9419677"/>
            <a:ext cx="7783270" cy="7783270"/>
          </a:xfrm>
          <a:custGeom>
            <a:avLst/>
            <a:gdLst/>
            <a:ahLst/>
            <a:cxnLst/>
            <a:rect l="l" t="t" r="r" b="b"/>
            <a:pathLst>
              <a:path w="7783270" h="7783270">
                <a:moveTo>
                  <a:pt x="0" y="0"/>
                </a:moveTo>
                <a:lnTo>
                  <a:pt x="7783270" y="0"/>
                </a:lnTo>
                <a:lnTo>
                  <a:pt x="7783270" y="7783270"/>
                </a:lnTo>
                <a:lnTo>
                  <a:pt x="0" y="77832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15965137" y="8412436"/>
            <a:ext cx="4645726" cy="4645726"/>
          </a:xfrm>
          <a:custGeom>
            <a:avLst/>
            <a:gdLst/>
            <a:ahLst/>
            <a:cxnLst/>
            <a:rect l="l" t="t" r="r" b="b"/>
            <a:pathLst>
              <a:path w="4645726" h="4645726">
                <a:moveTo>
                  <a:pt x="0" y="0"/>
                </a:moveTo>
                <a:lnTo>
                  <a:pt x="4645726" y="0"/>
                </a:lnTo>
                <a:lnTo>
                  <a:pt x="4645726" y="4645726"/>
                </a:lnTo>
                <a:lnTo>
                  <a:pt x="0" y="46457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800000">
            <a:off x="-2281014" y="-2716014"/>
            <a:ext cx="4645726" cy="4645726"/>
          </a:xfrm>
          <a:custGeom>
            <a:avLst/>
            <a:gdLst/>
            <a:ahLst/>
            <a:cxnLst/>
            <a:rect l="l" t="t" r="r" b="b"/>
            <a:pathLst>
              <a:path w="4645726" h="4645726">
                <a:moveTo>
                  <a:pt x="0" y="0"/>
                </a:moveTo>
                <a:lnTo>
                  <a:pt x="4645726" y="0"/>
                </a:lnTo>
                <a:lnTo>
                  <a:pt x="4645726" y="4645726"/>
                </a:lnTo>
                <a:lnTo>
                  <a:pt x="0" y="46457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281427" y="7499108"/>
            <a:ext cx="11725146" cy="905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50"/>
              </a:lnSpc>
            </a:pPr>
            <a:r>
              <a:rPr lang="en-US" sz="2607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Tu wiki y guía completa de videojuegos | Proyecto DAW de Manuel Acevedo Marín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33296" y="1950718"/>
            <a:ext cx="12221408" cy="5088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760"/>
              </a:lnSpc>
            </a:pPr>
            <a:r>
              <a:rPr lang="en-US" sz="18296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Next Level Codex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id="3" name="Freeform 3"/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id="6" name="Freeform 6"/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273638" y="693030"/>
            <a:ext cx="15740723" cy="8900940"/>
            <a:chOff x="0" y="0"/>
            <a:chExt cx="4145705" cy="23442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145705" cy="2344280"/>
            </a:xfrm>
            <a:custGeom>
              <a:avLst/>
              <a:gdLst/>
              <a:ahLst/>
              <a:cxnLst/>
              <a:rect l="l" t="t" r="r" b="b"/>
              <a:pathLst>
                <a:path w="4145705" h="2344280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6B95E0"/>
            </a:soli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18577" y="1028700"/>
            <a:ext cx="15250847" cy="8229600"/>
            <a:chOff x="0" y="0"/>
            <a:chExt cx="4016684" cy="216746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016684" cy="2167467"/>
            </a:xfrm>
            <a:custGeom>
              <a:avLst/>
              <a:gdLst/>
              <a:ahLst/>
              <a:cxnLst/>
              <a:rect l="l" t="t" r="r" b="b"/>
              <a:pathLst>
                <a:path w="4016684" h="2167467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3929826" y="4338245"/>
            <a:ext cx="10428348" cy="3478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16"/>
              </a:lnSpc>
            </a:pPr>
            <a:r>
              <a:rPr lang="en-US" sz="3297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Next Level Codex es una plataforma web dinámica que combina una wiki colaborativa y una red social vertical centrada en videojuegos. Permite consultar fichas detalladas de títulos, interactuar con otros usuarios y gestionar contenido de forma colaborativa, todo en un entorno moderno, responsive y seguro.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481322" y="2286761"/>
            <a:ext cx="9325355" cy="986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829"/>
              </a:lnSpc>
            </a:pPr>
            <a:r>
              <a:rPr lang="en-US" sz="8536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Next Level Codex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id="3" name="Freeform 3"/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id="6" name="Freeform 6"/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273638" y="693030"/>
            <a:ext cx="15740723" cy="8900940"/>
            <a:chOff x="0" y="0"/>
            <a:chExt cx="4145705" cy="23442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145705" cy="2344280"/>
            </a:xfrm>
            <a:custGeom>
              <a:avLst/>
              <a:gdLst/>
              <a:ahLst/>
              <a:cxnLst/>
              <a:rect l="l" t="t" r="r" b="b"/>
              <a:pathLst>
                <a:path w="4145705" h="2344280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6B95E0"/>
            </a:soli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18577" y="1028700"/>
            <a:ext cx="15250847" cy="8229600"/>
            <a:chOff x="0" y="0"/>
            <a:chExt cx="4016684" cy="216746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016684" cy="2167467"/>
            </a:xfrm>
            <a:custGeom>
              <a:avLst/>
              <a:gdLst/>
              <a:ahLst/>
              <a:cxnLst/>
              <a:rect l="l" t="t" r="r" b="b"/>
              <a:pathLst>
                <a:path w="4016684" h="2167467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509240" y="5965131"/>
            <a:ext cx="13269519" cy="1746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97"/>
              </a:lnSpc>
            </a:pPr>
            <a:r>
              <a:rPr lang="en-US" sz="2498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Frontend: HTML5, CSS3 con Flexbox, Grid y variables CSS (tema claro/oscuro), JavaScript ES6 y jQuery para carga dinámica vía AJAX. Librerías: Chart.js (estadísticas y gráficas), Leaflet (mapas interactivos), Font Awesome (iconos). Diseño responsive probado en escritorio y móvil.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509240" y="3945535"/>
            <a:ext cx="13269519" cy="1308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97"/>
              </a:lnSpc>
            </a:pPr>
            <a:r>
              <a:rPr lang="en-US" sz="2498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Backend: PHP 8.2 con arquitectura MVC nativa (sin frameworks), base de datos MariaDB 10.4 con más de 15 tablas relacionales normalizadas. Servidor Apache (XAMPP). Seguridad con bcrypt, consultas preparadas (bind_param) y sanitización XSS con htmlspecialchars.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65216" y="2184334"/>
            <a:ext cx="10757568" cy="986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829"/>
              </a:lnSpc>
            </a:pPr>
            <a:r>
              <a:rPr lang="en-US" sz="8536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Stack Tecnológico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id="3" name="Freeform 3"/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id="6" name="Freeform 6"/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273638" y="693030"/>
            <a:ext cx="15740723" cy="8900940"/>
            <a:chOff x="0" y="0"/>
            <a:chExt cx="4145705" cy="23442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145705" cy="2344280"/>
            </a:xfrm>
            <a:custGeom>
              <a:avLst/>
              <a:gdLst/>
              <a:ahLst/>
              <a:cxnLst/>
              <a:rect l="l" t="t" r="r" b="b"/>
              <a:pathLst>
                <a:path w="4145705" h="2344280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6B95E0"/>
            </a:soli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18577" y="1028700"/>
            <a:ext cx="15250847" cy="8229600"/>
            <a:chOff x="0" y="0"/>
            <a:chExt cx="4016684" cy="216746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016684" cy="2167467"/>
            </a:xfrm>
            <a:custGeom>
              <a:avLst/>
              <a:gdLst/>
              <a:ahLst/>
              <a:cxnLst/>
              <a:rect l="l" t="t" r="r" b="b"/>
              <a:pathLst>
                <a:path w="4016684" h="2167467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3153879" y="6189827"/>
            <a:ext cx="11980242" cy="1672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369"/>
              </a:lnSpc>
            </a:pPr>
            <a:r>
              <a:rPr lang="en-US" sz="2406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Objetivos Específicos: Diseñar una base de datos relacional eficiente con más de seis tablas interconectadas y relaciones normalizadas. Implementar un sistema CRUD completo para juegos, elementos, personajes y mapas. Aplicar arquitectura MVC para separar la lógica de negocio, presentación y control de forma clara y mantenible.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53879" y="3944375"/>
            <a:ext cx="11980242" cy="1672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369"/>
              </a:lnSpc>
            </a:pPr>
            <a:r>
              <a:rPr lang="en-US" sz="2406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Objetivo General: Desarrollar una plataforma web interactiva que funcione como una wiki y base de datos integral de videojuegos, con una interfaz intuitiva, responsive y segura, combinando funcionalidades de consulta colaborativa con interacción social entre usuarios.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65216" y="2159876"/>
            <a:ext cx="10757568" cy="1028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94"/>
              </a:lnSpc>
            </a:pPr>
            <a:r>
              <a:rPr lang="en-US" sz="8993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Objetivos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id="3" name="Freeform 3"/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id="6" name="Freeform 6"/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273638" y="693030"/>
            <a:ext cx="15740723" cy="8900940"/>
            <a:chOff x="0" y="0"/>
            <a:chExt cx="4145705" cy="23442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145705" cy="2344280"/>
            </a:xfrm>
            <a:custGeom>
              <a:avLst/>
              <a:gdLst/>
              <a:ahLst/>
              <a:cxnLst/>
              <a:rect l="l" t="t" r="r" b="b"/>
              <a:pathLst>
                <a:path w="4145705" h="2344280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6B95E0"/>
            </a:soli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18577" y="1028700"/>
            <a:ext cx="15250847" cy="8229600"/>
            <a:chOff x="0" y="0"/>
            <a:chExt cx="4016684" cy="216746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016684" cy="2167467"/>
            </a:xfrm>
            <a:custGeom>
              <a:avLst/>
              <a:gdLst/>
              <a:ahLst/>
              <a:cxnLst/>
              <a:rect l="l" t="t" r="r" b="b"/>
              <a:pathLst>
                <a:path w="4016684" h="2167467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535071" y="5958470"/>
            <a:ext cx="13099617" cy="1308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97"/>
              </a:lnSpc>
            </a:pPr>
            <a:r>
              <a:rPr lang="en-US" sz="2498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Red Social Integrada: Sistema de colaboradores (amistades), solicitudes, bloqueos y chat global/privado. Valoraciones (1–5 estrellas), comentarios, favoritos y logros automáticos. Temporizador de 15 días para reenviar solicitudes rechazadas.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590827" y="3751004"/>
            <a:ext cx="13099617" cy="1746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97"/>
              </a:lnSpc>
            </a:pPr>
            <a:r>
              <a:rPr lang="en-US" sz="2498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Wiki de Videojuegos: Fichas completas con portada, descripción, desarrollador, género, fecha, valoración y enlaces de compra. Pestañas dinámicas para elementos, personajes, mapas interactivos y comentarios. Contador de visitas y distintivos visuales para juegos "en desarrollo".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292251" y="2023065"/>
            <a:ext cx="10757568" cy="79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36"/>
              </a:lnSpc>
            </a:pPr>
            <a:r>
              <a:rPr lang="en-US" sz="692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Características Principales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id="3" name="Freeform 3"/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id="6" name="Freeform 6"/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273638" y="693030"/>
            <a:ext cx="15740723" cy="8900940"/>
            <a:chOff x="0" y="0"/>
            <a:chExt cx="4145705" cy="23442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145705" cy="2344280"/>
            </a:xfrm>
            <a:custGeom>
              <a:avLst/>
              <a:gdLst/>
              <a:ahLst/>
              <a:cxnLst/>
              <a:rect l="l" t="t" r="r" b="b"/>
              <a:pathLst>
                <a:path w="4145705" h="2344280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6B95E0"/>
            </a:soli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18577" y="1028700"/>
            <a:ext cx="15250847" cy="8229600"/>
            <a:chOff x="0" y="0"/>
            <a:chExt cx="4016684" cy="216746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016684" cy="2167467"/>
            </a:xfrm>
            <a:custGeom>
              <a:avLst/>
              <a:gdLst/>
              <a:ahLst/>
              <a:cxnLst/>
              <a:rect l="l" t="t" r="r" b="b"/>
              <a:pathLst>
                <a:path w="4016684" h="2167467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3092550" y="3974460"/>
            <a:ext cx="3746415" cy="3869298"/>
            <a:chOff x="0" y="0"/>
            <a:chExt cx="6350000" cy="6558280"/>
          </a:xfrm>
        </p:grpSpPr>
        <p:sp>
          <p:nvSpPr>
            <p:cNvPr id="15" name="Freeform 15"/>
            <p:cNvSpPr/>
            <p:nvPr/>
          </p:nvSpPr>
          <p:spPr>
            <a:xfrm>
              <a:off x="74930" y="74930"/>
              <a:ext cx="6200140" cy="6408420"/>
            </a:xfrm>
            <a:custGeom>
              <a:avLst/>
              <a:gdLst/>
              <a:ahLst/>
              <a:cxnLst/>
              <a:rect l="l" t="t" r="r" b="b"/>
              <a:pathLst>
                <a:path w="6200140" h="6408420">
                  <a:moveTo>
                    <a:pt x="6200140" y="5351780"/>
                  </a:moveTo>
                  <a:cubicBezTo>
                    <a:pt x="6200140" y="5935980"/>
                    <a:pt x="5726430" y="6408420"/>
                    <a:pt x="5143500" y="6408420"/>
                  </a:cubicBezTo>
                  <a:lnTo>
                    <a:pt x="1056640" y="6408420"/>
                  </a:lnTo>
                  <a:cubicBezTo>
                    <a:pt x="472440" y="6408420"/>
                    <a:pt x="0" y="5934710"/>
                    <a:pt x="0" y="5351780"/>
                  </a:cubicBezTo>
                  <a:lnTo>
                    <a:pt x="0" y="1056640"/>
                  </a:lnTo>
                  <a:cubicBezTo>
                    <a:pt x="0" y="472440"/>
                    <a:pt x="473710" y="0"/>
                    <a:pt x="1056640" y="0"/>
                  </a:cubicBezTo>
                  <a:lnTo>
                    <a:pt x="5143500" y="0"/>
                  </a:lnTo>
                  <a:cubicBezTo>
                    <a:pt x="5727700" y="0"/>
                    <a:pt x="6200140" y="473710"/>
                    <a:pt x="6200140" y="1056640"/>
                  </a:cubicBezTo>
                  <a:lnTo>
                    <a:pt x="6200140" y="5351780"/>
                  </a:lnTo>
                  <a:close/>
                </a:path>
              </a:pathLst>
            </a:custGeom>
            <a:blipFill>
              <a:blip r:embed="rId4"/>
              <a:stretch>
                <a:fillRect l="-1679" r="-1679"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6350000" cy="6558280"/>
            </a:xfrm>
            <a:custGeom>
              <a:avLst/>
              <a:gdLst/>
              <a:ahLst/>
              <a:cxnLst/>
              <a:rect l="l" t="t" r="r" b="b"/>
              <a:pathLst>
                <a:path w="6350000" h="6558280">
                  <a:moveTo>
                    <a:pt x="5218430" y="6558280"/>
                  </a:moveTo>
                  <a:lnTo>
                    <a:pt x="1131570" y="6558280"/>
                  </a:lnTo>
                  <a:cubicBezTo>
                    <a:pt x="508000" y="6558280"/>
                    <a:pt x="0" y="6050280"/>
                    <a:pt x="0" y="5426710"/>
                  </a:cubicBezTo>
                  <a:lnTo>
                    <a:pt x="0" y="1131570"/>
                  </a:lnTo>
                  <a:cubicBezTo>
                    <a:pt x="0" y="508000"/>
                    <a:pt x="508000" y="0"/>
                    <a:pt x="1131570" y="0"/>
                  </a:cubicBezTo>
                  <a:lnTo>
                    <a:pt x="5218430" y="0"/>
                  </a:lnTo>
                  <a:cubicBezTo>
                    <a:pt x="5842000" y="0"/>
                    <a:pt x="6350000" y="508000"/>
                    <a:pt x="6350000" y="1131570"/>
                  </a:cubicBezTo>
                  <a:lnTo>
                    <a:pt x="6350000" y="5425440"/>
                  </a:lnTo>
                  <a:cubicBezTo>
                    <a:pt x="6350000" y="6050280"/>
                    <a:pt x="5842000" y="6558280"/>
                    <a:pt x="5218430" y="6558280"/>
                  </a:cubicBezTo>
                  <a:close/>
                  <a:moveTo>
                    <a:pt x="1131570" y="149860"/>
                  </a:moveTo>
                  <a:cubicBezTo>
                    <a:pt x="590550" y="149860"/>
                    <a:pt x="149860" y="590550"/>
                    <a:pt x="149860" y="1131570"/>
                  </a:cubicBezTo>
                  <a:lnTo>
                    <a:pt x="149860" y="5425440"/>
                  </a:lnTo>
                  <a:cubicBezTo>
                    <a:pt x="149860" y="5966460"/>
                    <a:pt x="590550" y="6407150"/>
                    <a:pt x="1131570" y="6407150"/>
                  </a:cubicBezTo>
                  <a:lnTo>
                    <a:pt x="5218430" y="6407150"/>
                  </a:lnTo>
                  <a:cubicBezTo>
                    <a:pt x="5759450" y="6407150"/>
                    <a:pt x="6200140" y="5966460"/>
                    <a:pt x="6200140" y="5425440"/>
                  </a:cubicBezTo>
                  <a:lnTo>
                    <a:pt x="6200140" y="1131570"/>
                  </a:lnTo>
                  <a:cubicBezTo>
                    <a:pt x="6200140" y="590550"/>
                    <a:pt x="5759450" y="149860"/>
                    <a:pt x="5218430" y="149860"/>
                  </a:cubicBezTo>
                  <a:lnTo>
                    <a:pt x="1131570" y="149860"/>
                  </a:lnTo>
                  <a:close/>
                </a:path>
              </a:pathLst>
            </a:custGeom>
            <a:solidFill>
              <a:srgbClr val="BCC8D0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8102037" y="4417494"/>
            <a:ext cx="7152667" cy="2995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40"/>
              </a:lnSpc>
            </a:pPr>
            <a:r>
              <a:rPr lang="en-US" sz="2457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Panel de administración completo: gestión de usuarios, juegos, personajes y mapas. Estadísticas visuales con Chart.js (actividad, juegos añadidos, chats). Seguridad avanzada: contraseñas cifradas con bcrypt, consultas preparadas contra SQLi, sanitización XSS con htmlspecialchars y control de acceso por niveles (admin / usuario).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312658" y="2212152"/>
            <a:ext cx="11662683" cy="81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52"/>
              </a:lnSpc>
            </a:pPr>
            <a:r>
              <a:rPr lang="en-US" sz="719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Administración &amp; Seguridad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id="3" name="Freeform 3"/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id="6" name="Freeform 6"/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273638" y="693030"/>
            <a:ext cx="15740723" cy="8900940"/>
            <a:chOff x="0" y="0"/>
            <a:chExt cx="4145705" cy="23442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145705" cy="2344280"/>
            </a:xfrm>
            <a:custGeom>
              <a:avLst/>
              <a:gdLst/>
              <a:ahLst/>
              <a:cxnLst/>
              <a:rect l="l" t="t" r="r" b="b"/>
              <a:pathLst>
                <a:path w="4145705" h="2344280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6B95E0"/>
            </a:soli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18577" y="1028700"/>
            <a:ext cx="15250847" cy="8229600"/>
            <a:chOff x="0" y="0"/>
            <a:chExt cx="4016684" cy="216746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016684" cy="2167467"/>
            </a:xfrm>
            <a:custGeom>
              <a:avLst/>
              <a:gdLst/>
              <a:ahLst/>
              <a:cxnLst/>
              <a:rect l="l" t="t" r="r" b="b"/>
              <a:pathLst>
                <a:path w="4016684" h="2167467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8623" y="3442777"/>
            <a:ext cx="5583485" cy="4963357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2651790" y="4244976"/>
            <a:ext cx="7293757" cy="3322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77"/>
              </a:lnSpc>
            </a:pPr>
            <a:r>
              <a:rPr lang="en-US" sz="2698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Plataforma funcional y completa con +15 tablas y +30 archivos PHP. CRUD operativo para todos los módulos: usuarios, juegos, elementos, personajes y mapas. Rendimiento óptimo con consultas complejas resueltas en menos de 2 segundos. Seguridad verificada: sin vulnerabilidades SQLi ni XSS.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398173" y="2232792"/>
            <a:ext cx="7378013" cy="1040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228"/>
              </a:lnSpc>
            </a:pPr>
            <a:r>
              <a:rPr lang="en-US" sz="9036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Resultados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id="3" name="Freeform 3"/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id="6" name="Freeform 6"/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273638" y="693030"/>
            <a:ext cx="15740723" cy="8900940"/>
            <a:chOff x="0" y="0"/>
            <a:chExt cx="4145705" cy="23442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145705" cy="2344280"/>
            </a:xfrm>
            <a:custGeom>
              <a:avLst/>
              <a:gdLst/>
              <a:ahLst/>
              <a:cxnLst/>
              <a:rect l="l" t="t" r="r" b="b"/>
              <a:pathLst>
                <a:path w="4145705" h="2344280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6B95E0"/>
            </a:soli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18577" y="1028700"/>
            <a:ext cx="15250847" cy="8229600"/>
            <a:chOff x="0" y="0"/>
            <a:chExt cx="4016684" cy="216746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016684" cy="2167467"/>
            </a:xfrm>
            <a:custGeom>
              <a:avLst/>
              <a:gdLst/>
              <a:ahLst/>
              <a:cxnLst/>
              <a:rect l="l" t="t" r="r" b="b"/>
              <a:pathLst>
                <a:path w="4016684" h="2167467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3153879" y="6189827"/>
            <a:ext cx="11980242" cy="1746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79"/>
              </a:lnSpc>
            </a:pPr>
            <a:r>
              <a:rPr lang="en-US" sz="2485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Notificaciones push para mantener a los usuarios informados de actividad en tiempo real. Búsqueda avanzada con Elasticsearch o índices FULLTEXT para mejorar el rendimiento. Desarrollo de una Progressive Web App (PWA) para ofrecer experiencia nativa en dispositivos móviles e internacionalización a múltiples idiomas.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53879" y="3944375"/>
            <a:ext cx="11980242" cy="1746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79"/>
              </a:lnSpc>
            </a:pPr>
            <a:r>
              <a:rPr lang="en-US" sz="2485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Comunicación en tiempo real: Sustituir el chat actual por WebSockets para mensajería instantánea sin recargas. Migración a SPA con React o Vue.js para una experiencia de usuario más fluida y dinámica. Implementación de API REST para desacoplar completamente el cliente del servidor y facilitar integraciones externas.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65216" y="2159876"/>
            <a:ext cx="10757568" cy="1028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94"/>
              </a:lnSpc>
            </a:pPr>
            <a:r>
              <a:rPr lang="en-US" sz="8993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Líneas Futuras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49866" y="4953317"/>
            <a:ext cx="188268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e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id="3" name="Freeform 3"/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id="6" name="Freeform 6"/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273638" y="693030"/>
            <a:ext cx="15740723" cy="8900940"/>
            <a:chOff x="0" y="0"/>
            <a:chExt cx="4145705" cy="23442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145705" cy="2344280"/>
            </a:xfrm>
            <a:custGeom>
              <a:avLst/>
              <a:gdLst/>
              <a:ahLst/>
              <a:cxnLst/>
              <a:rect l="l" t="t" r="r" b="b"/>
              <a:pathLst>
                <a:path w="4145705" h="2344280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6B95E0"/>
            </a:soli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18577" y="1028700"/>
            <a:ext cx="15250847" cy="8229600"/>
            <a:chOff x="0" y="0"/>
            <a:chExt cx="4016684" cy="216746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016684" cy="2167467"/>
            </a:xfrm>
            <a:custGeom>
              <a:avLst/>
              <a:gdLst/>
              <a:ahLst/>
              <a:cxnLst/>
              <a:rect l="l" t="t" r="r" b="b"/>
              <a:pathLst>
                <a:path w="4016684" h="2167467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234831" y="4347770"/>
            <a:ext cx="9818338" cy="3331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20"/>
              </a:lnSpc>
            </a:pPr>
            <a:r>
              <a:rPr lang="en-US" sz="2728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Next Level Codex demuestra que es posible desarrollar una aplicación web compleja, segura y escalable utilizando únicamente tecnologías open source. El proyecto combina con éxito la estructura de una wiki con la interactividad de una red social, aplicando buenas prácticas de desarrollo, seguridad y diseño, consolidando las competencias del ciclo DAW.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765216" y="2203384"/>
            <a:ext cx="10757568" cy="1040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228"/>
              </a:lnSpc>
            </a:pPr>
            <a:r>
              <a:rPr lang="en-US" sz="9036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Conclusión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Personalizado</PresentationFormat>
  <Paragraphs>0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0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 Level Codex</dc:title>
  <cp:revision>9</cp:revision>
  <dcterms:created xsi:type="dcterms:W3CDTF">2006-08-16T00:00:00Z</dcterms:created>
  <dcterms:modified xsi:type="dcterms:W3CDTF">2026-06-08T12:25:36Z</dcterms:modified>
  <dc:identifier>DAHL53RnsMs</dc:identifier>
</cp:coreProperties>
</file>